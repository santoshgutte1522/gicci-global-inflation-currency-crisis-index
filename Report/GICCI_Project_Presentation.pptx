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Worst GICCI Scores on Record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GICCI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Venezuela 2018</c:v>
                  </c:pt>
                  <c:pt idx="1">
                    <c:v>Zimbabwe 2008</c:v>
                  </c:pt>
                  <c:pt idx="2">
                    <c:v>Lebanon 2021</c:v>
                  </c:pt>
                  <c:pt idx="3">
                    <c:v>Argentina 2002</c:v>
                  </c:pt>
                  <c:pt idx="4">
                    <c:v>Turkey 2001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95</c:v>
                </c:pt>
                <c:pt idx="4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6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image" Target="../media/image-5-8.png"/><Relationship Id="rId10" Type="http://schemas.openxmlformats.org/officeDocument/2006/relationships/image" Target="../media/image-5-9.png"/><Relationship Id="rId11" Type="http://schemas.openxmlformats.org/officeDocument/2006/relationships/image" Target="../media/image-5-10.png"/><Relationship Id="rId12" Type="http://schemas.openxmlformats.org/officeDocument/2006/relationships/image" Target="../media/image-5-1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623560" y="1051560"/>
            <a:ext cx="914400" cy="914400"/>
          </a:xfrm>
          <a:prstGeom prst="ellipse">
            <a:avLst/>
          </a:prstGeom>
          <a:solidFill>
            <a:srgbClr val="2B3A7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29844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33172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GICCI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0" y="333756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Inflation &amp; Currency Crisis Index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384048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55 Years of Economic Crisis Across 50 Countries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57800" y="4709160"/>
            <a:ext cx="164592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50292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Gutte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(CMPN-B)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Vidyalankar Institute of Technology, Mumbai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Exists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75488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8653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514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crises like hyperinflation and currency collapse are studied case-by-case. There is no single, consistent score that tracks inflation, currency devaluation, debt distress, and growth contraction together — across countries and decades.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0120" y="42976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44714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60120" y="5120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 composite “GICCI Score” (0–100) for 50 countries, then use it to analyze, predict, and visualize crisis risk through a live, interactive dashboard.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55080" y="1371600"/>
            <a:ext cx="2423160" cy="2240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6355080" y="1691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6537960" y="2788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052560" y="1371600"/>
            <a:ext cx="2423160" cy="2240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9052560" y="1691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200" dirty="0"/>
          </a:p>
        </p:txBody>
      </p:sp>
      <p:sp>
        <p:nvSpPr>
          <p:cNvPr id="17" name="Text 13"/>
          <p:cNvSpPr/>
          <p:nvPr/>
        </p:nvSpPr>
        <p:spPr>
          <a:xfrm>
            <a:off x="9235440" y="2788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(1970–2025)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355080" y="3886200"/>
            <a:ext cx="2423160" cy="2240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6355080" y="4206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6537960" y="5303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Events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052560" y="3886200"/>
            <a:ext cx="2423160" cy="2240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8"/>
          <p:cNvSpPr/>
          <p:nvPr/>
        </p:nvSpPr>
        <p:spPr>
          <a:xfrm>
            <a:off x="9052560" y="4206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200" dirty="0"/>
          </a:p>
        </p:txBody>
      </p:sp>
      <p:sp>
        <p:nvSpPr>
          <p:cNvPr id="23" name="Text 19"/>
          <p:cNvSpPr/>
          <p:nvPr/>
        </p:nvSpPr>
        <p:spPr>
          <a:xfrm>
            <a:off x="9235440" y="53035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connected phases, from raw data to an executive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5880" y="1920240"/>
            <a:ext cx="0" cy="358444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7739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6184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880360" y="1581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880360" y="19293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 with 6 tables covering 50 countries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24963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67004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25146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880360" y="24780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2880360" y="282549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Live-connected analysis with pandas and matplotlib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005840" y="339242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5661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341071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880360" y="3374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2880360" y="37216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regression &amp; clustering models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005840" y="428853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446227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48840" y="4306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2880360" y="4270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2880360" y="4617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 for decision-makers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005840" y="518464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535838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48840" y="520293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288036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Index (Bonus)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2880360" y="55138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analysis: how fast countries recovered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2B3A7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 —  SQL Database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0876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schema in MySQL holding 55 years of global economic history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943600" cy="4297680"/>
          </a:xfrm>
          <a:prstGeom prst="rect">
            <a:avLst/>
          </a:prstGeom>
          <a:solidFill>
            <a:srgbClr val="2B3A7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10896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countries — region &amp; currency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economic_indicators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08960" y="3044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 records — inflation, GDP, unemployment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37581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currency_data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08960" y="3758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rates &amp; devaluation history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" y="44714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crisis_events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108960" y="44714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crises — severity, IMF, default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4400" y="5184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gicci_scores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108960" y="5184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composite score (0–100)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APPLIED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21488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HAVING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(WITH clause)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RANK, LAG, LEAD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risk logic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858000" y="4434840"/>
            <a:ext cx="4663440" cy="1600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8"/>
          <p:cNvSpPr/>
          <p:nvPr/>
        </p:nvSpPr>
        <p:spPr>
          <a:xfrm>
            <a:off x="7086600" y="4572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7086600" y="5349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 written across joins, subqueries and window functions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 —  Python EDA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0876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connected live to MySQL — every chart reads current data, not a static export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91640"/>
          <a:ext cx="58521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8122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VISUALS BUILT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812280" y="21488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148840"/>
            <a:ext cx="411480" cy="41148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2258568"/>
            <a:ext cx="192024" cy="1920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0664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GICCI score distribution &amp; risk breakdown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6812280" y="29260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926080"/>
            <a:ext cx="411480" cy="41148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3035808"/>
            <a:ext cx="192024" cy="1920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40664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timelines for crisis-era countries</a:t>
            </a:r>
            <a:endParaRPr lang="en-US" sz="1250" dirty="0"/>
          </a:p>
        </p:txBody>
      </p:sp>
      <p:sp>
        <p:nvSpPr>
          <p:cNvPr id="16" name="Shape 8"/>
          <p:cNvSpPr/>
          <p:nvPr/>
        </p:nvSpPr>
        <p:spPr>
          <a:xfrm>
            <a:off x="6812280" y="3703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703320"/>
            <a:ext cx="411480" cy="41148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3813048"/>
            <a:ext cx="192024" cy="19202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406640" y="3703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vs. GDP growth scatter analysis</a:t>
            </a:r>
            <a:endParaRPr lang="en-US" sz="1250" dirty="0"/>
          </a:p>
        </p:txBody>
      </p:sp>
      <p:sp>
        <p:nvSpPr>
          <p:cNvPr id="20" name="Shape 10"/>
          <p:cNvSpPr/>
          <p:nvPr/>
        </p:nvSpPr>
        <p:spPr>
          <a:xfrm>
            <a:off x="6812280" y="44805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4480560"/>
            <a:ext cx="411480" cy="411480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2008" y="4590288"/>
            <a:ext cx="192024" cy="192024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406640" y="4480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severity by type and region</a:t>
            </a:r>
            <a:endParaRPr lang="en-US" sz="1250" dirty="0"/>
          </a:p>
        </p:txBody>
      </p:sp>
      <p:sp>
        <p:nvSpPr>
          <p:cNvPr id="24" name="Shape 12"/>
          <p:cNvSpPr/>
          <p:nvPr/>
        </p:nvSpPr>
        <p:spPr>
          <a:xfrm>
            <a:off x="6812280" y="5257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2280" y="5257800"/>
            <a:ext cx="411480" cy="41148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2008" y="5367528"/>
            <a:ext cx="192024" cy="192024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7406640" y="5257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of economic indicators</a:t>
            </a:r>
            <a:endParaRPr lang="en-US" sz="1250" dirty="0"/>
          </a:p>
        </p:txBody>
      </p:sp>
      <p:sp>
        <p:nvSpPr>
          <p:cNvPr id="28" name="Shape 14"/>
          <p:cNvSpPr/>
          <p:nvPr/>
        </p:nvSpPr>
        <p:spPr>
          <a:xfrm>
            <a:off x="6812280" y="6035040"/>
            <a:ext cx="47548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15"/>
          <p:cNvSpPr/>
          <p:nvPr/>
        </p:nvSpPr>
        <p:spPr>
          <a:xfrm>
            <a:off x="6812280" y="6035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 matplotlib  ·  seaborn  ·  mysql-connector-python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2B3A7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 —  Machine Learning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0876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three questions about crisis risk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502152" cy="4160520"/>
          </a:xfrm>
          <a:prstGeom prst="rect">
            <a:avLst/>
          </a:prstGeom>
          <a:solidFill>
            <a:srgbClr val="2B3A78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783080"/>
            <a:ext cx="3502152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country enter crisis?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291840"/>
            <a:ext cx="2953512" cy="0"/>
          </a:xfrm>
          <a:prstGeom prst="line">
            <a:avLst/>
          </a:prstGeom>
          <a:noFill/>
          <a:ln w="12700">
            <a:solidFill>
              <a:srgbClr val="3D4A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4747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374904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Random Forest · Gradient Boosting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50292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53035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 accuracy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416552" y="1783080"/>
            <a:ext cx="3502152" cy="4160520"/>
          </a:xfrm>
          <a:prstGeom prst="rect">
            <a:avLst/>
          </a:prstGeom>
          <a:solidFill>
            <a:srgbClr val="2B3A78"/>
          </a:solidFill>
          <a:ln/>
        </p:spPr>
      </p:sp>
      <p:sp>
        <p:nvSpPr>
          <p:cNvPr id="16" name="Shape 13"/>
          <p:cNvSpPr/>
          <p:nvPr/>
        </p:nvSpPr>
        <p:spPr>
          <a:xfrm>
            <a:off x="4416552" y="1783080"/>
            <a:ext cx="3502152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4690872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690872" y="25603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the GICCI score be?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690872" y="3291840"/>
            <a:ext cx="2953512" cy="0"/>
          </a:xfrm>
          <a:prstGeom prst="line">
            <a:avLst/>
          </a:prstGeom>
          <a:noFill/>
          <a:ln w="12700">
            <a:solidFill>
              <a:srgbClr val="3D4A8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34747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690872" y="374904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Random Forest Regressor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90872" y="50292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690872" y="53035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by R² &amp; RMSE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193024" y="1783080"/>
            <a:ext cx="3502152" cy="4160520"/>
          </a:xfrm>
          <a:prstGeom prst="rect">
            <a:avLst/>
          </a:prstGeom>
          <a:solidFill>
            <a:srgbClr val="2B3A78"/>
          </a:solidFill>
          <a:ln/>
        </p:spPr>
      </p:sp>
      <p:sp>
        <p:nvSpPr>
          <p:cNvPr id="25" name="Shape 22"/>
          <p:cNvSpPr/>
          <p:nvPr/>
        </p:nvSpPr>
        <p:spPr>
          <a:xfrm>
            <a:off x="8193024" y="1783080"/>
            <a:ext cx="3502152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3"/>
          <p:cNvSpPr/>
          <p:nvPr/>
        </p:nvSpPr>
        <p:spPr>
          <a:xfrm>
            <a:off x="8467344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467344" y="25603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behave alike?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467344" y="3291840"/>
            <a:ext cx="2953512" cy="0"/>
          </a:xfrm>
          <a:prstGeom prst="line">
            <a:avLst/>
          </a:prstGeom>
          <a:noFill/>
          <a:ln w="12700">
            <a:solidFill>
              <a:srgbClr val="3D4A8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67344" y="34747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467344" y="374904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(k=4) with PCA visualization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467344" y="50292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467344" y="53035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risk-based groups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40080" y="61722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 live predictor function takes new economic inputs and instantly returns a crisis probability and GICCI score.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 —  Power BI Dashboard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0876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live to MySQL  ·  4 pages  ·  DAX measures  ·  interactive slicers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691640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253288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top-country bar chart, risk donut chart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1783080"/>
            <a:ext cx="5349240" cy="201168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13" name="Shape 9"/>
          <p:cNvSpPr/>
          <p:nvPr/>
        </p:nvSpPr>
        <p:spPr>
          <a:xfrm>
            <a:off x="6583680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5740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360920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Analysis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360920" y="253288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trend line with a country filter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4069080"/>
            <a:ext cx="5349240" cy="201168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19" name="Shape 14"/>
          <p:cNvSpPr/>
          <p:nvPr/>
        </p:nvSpPr>
        <p:spPr>
          <a:xfrm>
            <a:off x="914400" y="4343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3400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691640" y="4361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Events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91640" y="481888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by crisis type with a full event table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309360" y="4069080"/>
            <a:ext cx="5349240" cy="201168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25" name="Shape 19"/>
          <p:cNvSpPr/>
          <p:nvPr/>
        </p:nvSpPr>
        <p:spPr>
          <a:xfrm>
            <a:off x="6583680" y="4343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343400"/>
            <a:ext cx="594360" cy="5943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7360920" y="4361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GICCI Deep Dive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360920" y="481888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trends and sub-score breakdown by country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40080" y="6172200"/>
            <a:ext cx="109270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4"/>
          <p:cNvSpPr/>
          <p:nvPr/>
        </p:nvSpPr>
        <p:spPr>
          <a:xfrm>
            <a:off x="640080" y="6172200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Measures: Avg GICCI Score · Total Crises · IMF Bailout Rate · Default Rate · Avg Severity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Reveals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 that stood out across 55 years of crisis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132588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9006840" y="2148840"/>
            <a:ext cx="2286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00684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GICCI 100 / 100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Money-printing always ends the same 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(2008) and Venezuela (2014–24) both hit a GICCI score of 100 after years of deficit financing through currency creation.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927080" cy="132588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9006840" y="3657600"/>
            <a:ext cx="2286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00684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hyperinflations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is a repeat offender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90448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hyperinflation episodes (1989, 2002, 2023) point to a structural fiscal problem, not a one-off shock.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927080" cy="132588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006840" y="5166360"/>
            <a:ext cx="2286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006840" y="5166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in 3 years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010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institutions recover faster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41324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moved from Crisis back to Stable within 3 years of the 1997 Asian Crisis by repaying the IMF early and reforming corporate debt.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ownership across the data science lifecycle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87752" cy="4160520"/>
          </a:xfrm>
          <a:prstGeom prst="rect">
            <a:avLst/>
          </a:prstGeom>
          <a:solidFill>
            <a:srgbClr val="2B3A78"/>
          </a:solidFill>
          <a:ln/>
        </p:spPr>
      </p:sp>
      <p:sp>
        <p:nvSpPr>
          <p:cNvPr id="5" name="Shape 3"/>
          <p:cNvSpPr/>
          <p:nvPr/>
        </p:nvSpPr>
        <p:spPr>
          <a:xfrm>
            <a:off x="1613916" y="2103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2768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097280" y="3337560"/>
            <a:ext cx="1673352" cy="0"/>
          </a:xfrm>
          <a:prstGeom prst="line">
            <a:avLst/>
          </a:prstGeom>
          <a:noFill/>
          <a:ln w="12700">
            <a:solidFill>
              <a:srgbClr val="3D4A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35661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 design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window functions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analytical queries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02152" y="1783080"/>
            <a:ext cx="2587752" cy="4160520"/>
          </a:xfrm>
          <a:prstGeom prst="rect">
            <a:avLst/>
          </a:prstGeom>
          <a:solidFill>
            <a:srgbClr val="2B3A78"/>
          </a:solidFill>
          <a:ln/>
        </p:spPr>
      </p:sp>
      <p:sp>
        <p:nvSpPr>
          <p:cNvPr id="11" name="Shape 8"/>
          <p:cNvSpPr/>
          <p:nvPr/>
        </p:nvSpPr>
        <p:spPr>
          <a:xfrm>
            <a:off x="4475988" y="2103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227685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288036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3959352" y="3337560"/>
            <a:ext cx="1673352" cy="0"/>
          </a:xfrm>
          <a:prstGeom prst="line">
            <a:avLst/>
          </a:prstGeom>
          <a:noFill/>
          <a:ln w="12700">
            <a:solidFill>
              <a:srgbClr val="3D4A8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94760" y="35661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64224" y="1783080"/>
            <a:ext cx="2587752" cy="4160520"/>
          </a:xfrm>
          <a:prstGeom prst="rect">
            <a:avLst/>
          </a:prstGeom>
          <a:solidFill>
            <a:srgbClr val="2B3A78"/>
          </a:solidFill>
          <a:ln/>
        </p:spPr>
      </p:sp>
      <p:sp>
        <p:nvSpPr>
          <p:cNvPr id="17" name="Shape 13"/>
          <p:cNvSpPr/>
          <p:nvPr/>
        </p:nvSpPr>
        <p:spPr>
          <a:xfrm>
            <a:off x="7338060" y="2103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796" y="227685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47104" y="288036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821424" y="3337560"/>
            <a:ext cx="1673352" cy="0"/>
          </a:xfrm>
          <a:prstGeom prst="line">
            <a:avLst/>
          </a:prstGeom>
          <a:noFill/>
          <a:ln w="12700">
            <a:solidFill>
              <a:srgbClr val="3D4A8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656832" y="35661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226296" y="1783080"/>
            <a:ext cx="2587752" cy="4160520"/>
          </a:xfrm>
          <a:prstGeom prst="rect">
            <a:avLst/>
          </a:prstGeom>
          <a:solidFill>
            <a:srgbClr val="2B3A78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00132" y="21031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3868" y="227685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09176" y="288036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</a:t>
            </a:r>
            <a:endParaRPr lang="en-US" sz="1450" dirty="0"/>
          </a:p>
        </p:txBody>
      </p:sp>
      <p:sp>
        <p:nvSpPr>
          <p:cNvPr id="26" name="Shape 20"/>
          <p:cNvSpPr/>
          <p:nvPr/>
        </p:nvSpPr>
        <p:spPr>
          <a:xfrm>
            <a:off x="9683496" y="3337560"/>
            <a:ext cx="1673352" cy="0"/>
          </a:xfrm>
          <a:prstGeom prst="line">
            <a:avLst/>
          </a:prstGeom>
          <a:noFill/>
          <a:ln w="12700">
            <a:solidFill>
              <a:srgbClr val="3D4A8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518904" y="35661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connectivity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0080" y="61722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 →  Data engineering  →  Statistical analysis  →  Predictive modeling  →  Executive dashboarding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371600"/>
            <a:ext cx="914400" cy="914400"/>
          </a:xfrm>
          <a:prstGeom prst="ellipse">
            <a:avLst/>
          </a:prstGeom>
          <a:solidFill>
            <a:srgbClr val="2B3A7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6184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697480"/>
            <a:ext cx="1216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0" y="34290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257800" y="4114800"/>
            <a:ext cx="164592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43484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Gutte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(CMPN-B), Vidyalankar Institute of Technology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guttesantosh44@gmail.com   ·   github.com/Santoshgutte1522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GICCI Project Presentation</dc:title>
  <dc:subject>PptxGenJS Presentation</dc:subject>
  <dc:creator>Santosh Gutte</dc:creator>
  <cp:lastModifiedBy>Santosh Gutte</cp:lastModifiedBy>
  <cp:revision>1</cp:revision>
  <dcterms:created xsi:type="dcterms:W3CDTF">2026-06-22T08:37:59Z</dcterms:created>
  <dcterms:modified xsi:type="dcterms:W3CDTF">2026-06-22T08:37:59Z</dcterms:modified>
</cp:coreProperties>
</file>